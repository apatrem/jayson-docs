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D3F2E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Industry A</c:v>
                  </c:pt>
                  <c:pt idx="1">
                    <c:v>Industry B</c:v>
                  </c:pt>
                  <c:pt idx="2">
                    <c:v>Industry C</c:v>
                  </c:pt>
                  <c:pt idx="3">
                    <c:v>Ammonia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90</c:v>
                </c:pt>
                <c:pt idx="2">
                  <c:v>60</c:v>
                </c:pt>
                <c:pt idx="3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00C2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Industry A</c:v>
                  </c:pt>
                  <c:pt idx="1">
                    <c:v>Industry B</c:v>
                  </c:pt>
                  <c:pt idx="2">
                    <c:v>Industry C</c:v>
                  </c:pt>
                  <c:pt idx="3">
                    <c:v>Ammonia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240</c:v>
                </c:pt>
                <c:pt idx="1">
                  <c:v>200</c:v>
                </c:pt>
                <c:pt idx="2">
                  <c:v>140</c:v>
                </c:pt>
                <c:pt idx="3">
                  <c:v>100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2683C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Industry A</c:v>
                  </c:pt>
                  <c:pt idx="1">
                    <c:v>Industry B</c:v>
                  </c:pt>
                  <c:pt idx="2">
                    <c:v>Industry C</c:v>
                  </c:pt>
                  <c:pt idx="3">
                    <c:v>Ammonia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380</c:v>
                </c:pt>
                <c:pt idx="1">
                  <c:v>310</c:v>
                </c:pt>
                <c:pt idx="2">
                  <c:v>260</c:v>
                </c:pt>
                <c:pt idx="3">
                  <c:v>170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ot.title"/>
          <p:cNvSpPr/>
          <p:nvPr/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Tier-1 candidates score 2x ammonia on bankable long-term demand</a:t>
            </a:r>
            <a:endParaRPr lang="en-US" sz="2400" dirty="0"/>
          </a:p>
        </p:txBody>
      </p:sp>
      <p:sp>
        <p:nvSpPr>
          <p:cNvPr id="3" name="slot.kpi-strip.card1.figure"/>
          <p:cNvSpPr/>
          <p:nvPr/>
        </p:nvSpPr>
        <p:spPr>
          <a:xfrm>
            <a:off x="457200" y="1234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25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2.4x</a:t>
            </a:r>
            <a:endParaRPr lang="en-US" sz="3000" dirty="0"/>
          </a:p>
        </p:txBody>
      </p:sp>
      <p:sp>
        <p:nvSpPr>
          <p:cNvPr id="4" name="slot.kpi-strip.card1.label"/>
          <p:cNvSpPr/>
          <p:nvPr/>
        </p:nvSpPr>
        <p:spPr>
          <a:xfrm>
            <a:off x="457200" y="18105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vs ammonia</a:t>
            </a:r>
            <a:endParaRPr lang="en-US" sz="1200" dirty="0"/>
          </a:p>
        </p:txBody>
      </p:sp>
      <p:sp>
        <p:nvSpPr>
          <p:cNvPr id="5" name="slot.kpi-strip.card1.delta"/>
          <p:cNvSpPr/>
          <p:nvPr/>
        </p:nvSpPr>
        <p:spPr>
          <a:xfrm>
            <a:off x="457200" y="21305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8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+140%</a:t>
            </a:r>
            <a:endParaRPr lang="en-US" sz="1100" dirty="0"/>
          </a:p>
        </p:txBody>
      </p:sp>
      <p:sp>
        <p:nvSpPr>
          <p:cNvPr id="6" name="slot.kpi-strip.card2.figure"/>
          <p:cNvSpPr/>
          <p:nvPr/>
        </p:nvSpPr>
        <p:spPr>
          <a:xfrm>
            <a:off x="4233672" y="1234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25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€68/MWh</a:t>
            </a:r>
            <a:endParaRPr lang="en-US" sz="3000" dirty="0"/>
          </a:p>
        </p:txBody>
      </p:sp>
      <p:sp>
        <p:nvSpPr>
          <p:cNvPr id="7" name="slot.kpi-strip.card2.label"/>
          <p:cNvSpPr/>
          <p:nvPr/>
        </p:nvSpPr>
        <p:spPr>
          <a:xfrm>
            <a:off x="4233672" y="18105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LCOE target</a:t>
            </a:r>
            <a:endParaRPr lang="en-US" sz="1200" dirty="0"/>
          </a:p>
        </p:txBody>
      </p:sp>
      <p:sp>
        <p:nvSpPr>
          <p:cNvPr id="8" name="slot.kpi-strip.card2.delta"/>
          <p:cNvSpPr/>
          <p:nvPr/>
        </p:nvSpPr>
        <p:spPr>
          <a:xfrm>
            <a:off x="4233672" y="21305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8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-12%</a:t>
            </a:r>
            <a:endParaRPr lang="en-US" sz="1100" dirty="0"/>
          </a:p>
        </p:txBody>
      </p:sp>
      <p:sp>
        <p:nvSpPr>
          <p:cNvPr id="9" name="slot.kpi-strip.card3.figure"/>
          <p:cNvSpPr/>
          <p:nvPr/>
        </p:nvSpPr>
        <p:spPr>
          <a:xfrm>
            <a:off x="8010144" y="1234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259"/>
                </a:solidFill>
                <a:latin typeface="Futura" pitchFamily="34" charset="0"/>
                <a:ea typeface="Futura" pitchFamily="34" charset="-122"/>
                <a:cs typeface="Futura" pitchFamily="34" charset="-120"/>
              </a:rPr>
              <a:t>7</a:t>
            </a:r>
            <a:endParaRPr lang="en-US" sz="3000" dirty="0"/>
          </a:p>
        </p:txBody>
      </p:sp>
      <p:sp>
        <p:nvSpPr>
          <p:cNvPr id="10" name="slot.kpi-strip.card3.label"/>
          <p:cNvSpPr/>
          <p:nvPr/>
        </p:nvSpPr>
        <p:spPr>
          <a:xfrm>
            <a:off x="8010144" y="18105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credible offtakers</a:t>
            </a:r>
            <a:endParaRPr lang="en-US" sz="1200" dirty="0"/>
          </a:p>
        </p:txBody>
      </p:sp>
      <p:sp>
        <p:nvSpPr>
          <p:cNvPr id="11" name="slot.kpi-strip.card3.delta"/>
          <p:cNvSpPr/>
          <p:nvPr/>
        </p:nvSpPr>
        <p:spPr>
          <a:xfrm>
            <a:off x="8010144" y="21305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graphicFrame>
        <p:nvGraphicFramePr>
          <p:cNvPr id="12" name="slot.chart" descr=""/>
          <p:cNvGraphicFramePr/>
          <p:nvPr/>
        </p:nvGraphicFramePr>
        <p:xfrm>
          <a:off x="457200" y="2697480"/>
          <a:ext cx="7040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lot.narrative"/>
          <p:cNvSpPr/>
          <p:nvPr/>
        </p:nvSpPr>
        <p:spPr>
          <a:xfrm>
            <a:off x="7772400" y="2697480"/>
            <a:ext cx="3959352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industries clear the bankability gate in all scenarios.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Ammonia trails on counterparty diversity, not on LCOE.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selection in Module 2.</a:t>
            </a:r>
            <a:endParaRPr lang="en-US" sz="1300" dirty="0"/>
          </a:p>
        </p:txBody>
      </p:sp>
      <p:sp>
        <p:nvSpPr>
          <p:cNvPr id="14" name="slot.footer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Acme Consulting   ·   Confidential — for the addressee only   ·  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Acme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report master (placeholder)</dc:title>
  <dc:subject>PLACEHOLDER report master — synthetic, not a real firm template</dc:subject>
  <dc:creator>Acme Consulting</dc:creator>
  <cp:lastModifiedBy>Acme Consulting</cp:lastModifiedBy>
  <cp:revision>1</cp:revision>
  <dcterms:created xsi:type="dcterms:W3CDTF">2026-06-08T15:36:17Z</dcterms:created>
  <dcterms:modified xsi:type="dcterms:W3CDTF">2026-06-08T15:36:17Z</dcterms:modified>
</cp:coreProperties>
</file>